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082B4-03DD-6896-4D93-FDE0457554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BIGGER QUESTIONS OF PUBLIC SPEAKING</a:t>
            </a:r>
          </a:p>
        </p:txBody>
      </p:sp>
    </p:spTree>
    <p:extLst>
      <p:ext uri="{BB962C8B-B14F-4D97-AF65-F5344CB8AC3E}">
        <p14:creationId xmlns:p14="http://schemas.microsoft.com/office/powerpoint/2010/main" val="60859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0EBC-DF70-8935-0F0F-9EEA18FC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03E4-1B49-6608-02CD-7FC7E5966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Why Public Speaking Matters</a:t>
            </a:r>
          </a:p>
          <a:p>
            <a:r>
              <a:rPr lang="en-US" sz="2400" dirty="0"/>
              <a:t>The Role of Ethics and Credibility in Communication</a:t>
            </a:r>
          </a:p>
          <a:p>
            <a:r>
              <a:rPr lang="en-US" sz="2400" dirty="0"/>
              <a:t>(Maybe) Speaking with Confidence</a:t>
            </a:r>
          </a:p>
        </p:txBody>
      </p:sp>
    </p:spTree>
    <p:extLst>
      <p:ext uri="{BB962C8B-B14F-4D97-AF65-F5344CB8AC3E}">
        <p14:creationId xmlns:p14="http://schemas.microsoft.com/office/powerpoint/2010/main" val="125275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7C25-642A-FC32-FD50-D08401EC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ABB71-A4A1-2F66-F788-0F555370B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“public speaking?”</a:t>
            </a:r>
          </a:p>
          <a:p>
            <a:pPr lvl="1"/>
            <a:r>
              <a:rPr lang="en-US" sz="2200" i="1" dirty="0"/>
              <a:t>“The process of designing and delivering a message to an audience.”</a:t>
            </a:r>
          </a:p>
          <a:p>
            <a:r>
              <a:rPr lang="en-US" sz="2400" dirty="0"/>
              <a:t>What does “public speaking” look like?</a:t>
            </a:r>
          </a:p>
        </p:txBody>
      </p:sp>
    </p:spTree>
    <p:extLst>
      <p:ext uri="{BB962C8B-B14F-4D97-AF65-F5344CB8AC3E}">
        <p14:creationId xmlns:p14="http://schemas.microsoft.com/office/powerpoint/2010/main" val="2097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AD2C-50CE-20B1-BE65-3C7808CA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5EE56-E2DA-CBF9-4D92-C2D741E57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Good public speakers know they must plan, organize, and revise their material in order to develop an effective speech</a:t>
            </a:r>
          </a:p>
          <a:p>
            <a:r>
              <a:rPr lang="en-US" sz="2400" dirty="0"/>
              <a:t>Public speaking aims to:</a:t>
            </a:r>
          </a:p>
          <a:p>
            <a:pPr lvl="1"/>
            <a:r>
              <a:rPr lang="en-US" sz="2200" dirty="0"/>
              <a:t>Inform</a:t>
            </a:r>
          </a:p>
          <a:p>
            <a:pPr lvl="1"/>
            <a:r>
              <a:rPr lang="en-US" sz="2200" dirty="0"/>
              <a:t>Persuade</a:t>
            </a:r>
          </a:p>
          <a:p>
            <a:pPr lvl="1"/>
            <a:r>
              <a:rPr lang="en-US" sz="2200" dirty="0"/>
              <a:t>Entertain</a:t>
            </a:r>
          </a:p>
          <a:p>
            <a:pPr lvl="1"/>
            <a:r>
              <a:rPr lang="en-US" sz="2200" dirty="0"/>
              <a:t>What else?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57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453A-C31C-5426-2ED8-FC200C4E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Public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F43B8-2461-447F-A139-70FFEAD47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Oral/written communication skills are two top skills that employers look for</a:t>
            </a:r>
          </a:p>
          <a:p>
            <a:r>
              <a:rPr lang="en-US" sz="2400" dirty="0"/>
              <a:t>Practice and praxis of public speaking helps to:</a:t>
            </a:r>
          </a:p>
          <a:p>
            <a:pPr lvl="1"/>
            <a:r>
              <a:rPr lang="en-US" sz="2200" dirty="0"/>
              <a:t>Develop critical thinking skills</a:t>
            </a:r>
          </a:p>
          <a:p>
            <a:pPr lvl="1"/>
            <a:r>
              <a:rPr lang="en-US" sz="2200" dirty="0"/>
              <a:t>Enhance verbal and nonverbal skills</a:t>
            </a:r>
          </a:p>
          <a:p>
            <a:pPr lvl="1"/>
            <a:r>
              <a:rPr lang="en-US" sz="2200" dirty="0"/>
              <a:t>Overcome general anxiety for presentations</a:t>
            </a:r>
          </a:p>
          <a:p>
            <a:pPr lvl="1"/>
            <a:r>
              <a:rPr lang="en-US" sz="2200" dirty="0"/>
              <a:t>Develop leadership skills</a:t>
            </a:r>
          </a:p>
          <a:p>
            <a:pPr lvl="1"/>
            <a:r>
              <a:rPr lang="en-US" sz="2200" dirty="0"/>
              <a:t>Influence the world around you</a:t>
            </a:r>
          </a:p>
        </p:txBody>
      </p:sp>
    </p:spTree>
    <p:extLst>
      <p:ext uri="{BB962C8B-B14F-4D97-AF65-F5344CB8AC3E}">
        <p14:creationId xmlns:p14="http://schemas.microsoft.com/office/powerpoint/2010/main" val="208321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2555-0D83-10FD-32EF-A6AB4C9C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Ethics of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DE78-0573-E39F-46D6-3B0C9665D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are </a:t>
            </a:r>
            <a:r>
              <a:rPr lang="en-US" sz="2400" b="1" dirty="0"/>
              <a:t>ethics</a:t>
            </a:r>
            <a:r>
              <a:rPr lang="en-US" sz="2400" dirty="0"/>
              <a:t>?</a:t>
            </a:r>
          </a:p>
          <a:p>
            <a:r>
              <a:rPr lang="en-US" sz="2400" dirty="0"/>
              <a:t>Four universal standards for ethical communication</a:t>
            </a:r>
          </a:p>
          <a:p>
            <a:pPr lvl="1"/>
            <a:r>
              <a:rPr lang="en-US" sz="2200" dirty="0"/>
              <a:t>Clarity</a:t>
            </a:r>
          </a:p>
          <a:p>
            <a:pPr lvl="1"/>
            <a:r>
              <a:rPr lang="en-US" sz="2200" dirty="0"/>
              <a:t>Honesty</a:t>
            </a:r>
          </a:p>
          <a:p>
            <a:pPr lvl="1"/>
            <a:r>
              <a:rPr lang="en-US" sz="2200" dirty="0"/>
              <a:t>Efficiency</a:t>
            </a:r>
          </a:p>
          <a:p>
            <a:pPr lvl="1"/>
            <a:r>
              <a:rPr lang="en-US" sz="2200" dirty="0"/>
              <a:t>Respect</a:t>
            </a:r>
          </a:p>
        </p:txBody>
      </p:sp>
    </p:spTree>
    <p:extLst>
      <p:ext uri="{BB962C8B-B14F-4D97-AF65-F5344CB8AC3E}">
        <p14:creationId xmlns:p14="http://schemas.microsoft.com/office/powerpoint/2010/main" val="184442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E0ED-0C26-A7AF-EF8F-36592EEAA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Communication – The Ideal Communicator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8DD2-B3AA-225F-598B-F7E8A8A1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Ethical communicators:</a:t>
            </a:r>
          </a:p>
          <a:p>
            <a:pPr lvl="1"/>
            <a:r>
              <a:rPr lang="en-US" sz="2200" dirty="0"/>
              <a:t>Honest and truthful</a:t>
            </a:r>
          </a:p>
          <a:p>
            <a:pPr lvl="1"/>
            <a:r>
              <a:rPr lang="en-US" sz="2200" dirty="0"/>
              <a:t>Respect the views of others</a:t>
            </a:r>
          </a:p>
          <a:p>
            <a:r>
              <a:rPr lang="en-US" sz="2400" dirty="0"/>
              <a:t>Why do ethics in public speaking matter?</a:t>
            </a:r>
          </a:p>
        </p:txBody>
      </p:sp>
    </p:spTree>
    <p:extLst>
      <p:ext uri="{BB962C8B-B14F-4D97-AF65-F5344CB8AC3E}">
        <p14:creationId xmlns:p14="http://schemas.microsoft.com/office/powerpoint/2010/main" val="3613153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3E6EA-E97A-86B4-8881-D0C417F2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and Credibility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4ADBE-4E59-1CCE-78F6-796698CDF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/>
              <a:t>Credibility</a:t>
            </a:r>
            <a:r>
              <a:rPr lang="en-US" sz="2400" dirty="0"/>
              <a:t>: how believable you are, or how willing your audience is to believe you</a:t>
            </a:r>
          </a:p>
          <a:p>
            <a:r>
              <a:rPr lang="en-US" sz="2400" dirty="0"/>
              <a:t>To be credible, one must be ethical</a:t>
            </a:r>
          </a:p>
          <a:p>
            <a:pPr lvl="1"/>
            <a:r>
              <a:rPr lang="en-US" sz="2200" dirty="0"/>
              <a:t>Clarity – includes clear citations of reliable, relevant, current sources</a:t>
            </a:r>
          </a:p>
          <a:p>
            <a:pPr lvl="1"/>
            <a:r>
              <a:rPr lang="en-US" sz="2200" dirty="0"/>
              <a:t>Honesty – includes not misleading audiences with inaccurate or inadequate information</a:t>
            </a:r>
          </a:p>
          <a:p>
            <a:pPr lvl="1"/>
            <a:r>
              <a:rPr lang="en-US" sz="2200" dirty="0"/>
              <a:t>Efficiency – includes thoroughly researching all aspects of a topic being discussed</a:t>
            </a:r>
          </a:p>
          <a:p>
            <a:pPr lvl="1"/>
            <a:r>
              <a:rPr lang="en-US" sz="2200" dirty="0"/>
              <a:t>Respect – includes showing the audience how to connect the dots within a speech and between its contents and their daily life</a:t>
            </a:r>
          </a:p>
        </p:txBody>
      </p:sp>
    </p:spTree>
    <p:extLst>
      <p:ext uri="{BB962C8B-B14F-4D97-AF65-F5344CB8AC3E}">
        <p14:creationId xmlns:p14="http://schemas.microsoft.com/office/powerpoint/2010/main" val="167567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3EFB-EB89-B67F-DA80-85EBE073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Credibility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70A20-409C-535C-2611-0A636FA28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Your Credibility – how ethical, reliable, and accurate you are</a:t>
            </a:r>
          </a:p>
          <a:p>
            <a:pPr lvl="1"/>
            <a:r>
              <a:rPr lang="en-US" sz="2200" dirty="0"/>
              <a:t>Experience</a:t>
            </a:r>
          </a:p>
          <a:p>
            <a:pPr lvl="1"/>
            <a:r>
              <a:rPr lang="en-US" sz="2200" dirty="0"/>
              <a:t>Education</a:t>
            </a:r>
          </a:p>
          <a:p>
            <a:pPr lvl="1"/>
            <a:r>
              <a:rPr lang="en-US" sz="2200" dirty="0"/>
              <a:t>Words vs. Actions and Behaviors</a:t>
            </a:r>
          </a:p>
          <a:p>
            <a:pPr lvl="1"/>
            <a:r>
              <a:rPr lang="en-US" sz="2200" dirty="0"/>
              <a:t>Adherence to Ethical Standards</a:t>
            </a:r>
          </a:p>
          <a:p>
            <a:pPr lvl="1"/>
            <a:r>
              <a:rPr lang="en-US" sz="2200" dirty="0"/>
              <a:t>Biases</a:t>
            </a:r>
          </a:p>
          <a:p>
            <a:pPr lvl="1"/>
            <a:r>
              <a:rPr lang="en-US" sz="2200" dirty="0"/>
              <a:t>Approach</a:t>
            </a:r>
          </a:p>
          <a:p>
            <a:pPr lvl="1"/>
            <a:r>
              <a:rPr lang="en-US" sz="2200" dirty="0"/>
              <a:t>Communicative Competence</a:t>
            </a:r>
          </a:p>
        </p:txBody>
      </p:sp>
    </p:spTree>
    <p:extLst>
      <p:ext uri="{BB962C8B-B14F-4D97-AF65-F5344CB8AC3E}">
        <p14:creationId xmlns:p14="http://schemas.microsoft.com/office/powerpoint/2010/main" val="204219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81C4-1D47-700E-F295-51D77A33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Perceiving Credibility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CAD5-7B0E-0FCD-AA2A-AA50EA877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Perceived Credibility – how credible others think you are</a:t>
            </a:r>
          </a:p>
          <a:p>
            <a:r>
              <a:rPr lang="en-US" sz="2400" dirty="0"/>
              <a:t>Three primary types:</a:t>
            </a:r>
          </a:p>
          <a:p>
            <a:pPr lvl="1"/>
            <a:r>
              <a:rPr lang="en-US" sz="2200" dirty="0"/>
              <a:t>Prior – the credibility a speaker has before they begin</a:t>
            </a:r>
          </a:p>
          <a:p>
            <a:pPr lvl="2"/>
            <a:r>
              <a:rPr lang="en-US" sz="2000" dirty="0"/>
              <a:t>Reputation &amp; qualifications</a:t>
            </a:r>
          </a:p>
          <a:p>
            <a:pPr lvl="1"/>
            <a:r>
              <a:rPr lang="en-US" sz="2200" dirty="0"/>
              <a:t>Derived – credibility generated during a speech</a:t>
            </a:r>
          </a:p>
          <a:p>
            <a:pPr lvl="2"/>
            <a:r>
              <a:rPr lang="en-US" sz="2000" dirty="0"/>
              <a:t>Stems from </a:t>
            </a:r>
            <a:r>
              <a:rPr lang="en-US" sz="2000" b="1" dirty="0"/>
              <a:t>what</a:t>
            </a:r>
            <a:r>
              <a:rPr lang="en-US" sz="2000" b="1" i="1" dirty="0"/>
              <a:t> </a:t>
            </a:r>
            <a:r>
              <a:rPr lang="en-US" sz="2000" dirty="0"/>
              <a:t>is presented and </a:t>
            </a:r>
            <a:r>
              <a:rPr lang="en-US" sz="2000" b="1" dirty="0"/>
              <a:t>how</a:t>
            </a:r>
            <a:r>
              <a:rPr lang="en-US" sz="2000" dirty="0"/>
              <a:t> it is presented</a:t>
            </a:r>
          </a:p>
          <a:p>
            <a:pPr lvl="1"/>
            <a:r>
              <a:rPr lang="en-US" sz="2200" dirty="0"/>
              <a:t>Terminal – the credibility a speaker has at the end</a:t>
            </a:r>
          </a:p>
          <a:p>
            <a:pPr lvl="2"/>
            <a:r>
              <a:rPr lang="en-US" sz="2000" dirty="0"/>
              <a:t>The judgment of an audience that they can take home</a:t>
            </a:r>
          </a:p>
        </p:txBody>
      </p:sp>
    </p:spTree>
    <p:extLst>
      <p:ext uri="{BB962C8B-B14F-4D97-AF65-F5344CB8AC3E}">
        <p14:creationId xmlns:p14="http://schemas.microsoft.com/office/powerpoint/2010/main" val="313733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DA1A-97EB-154B-43C4-EB46F11C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Quandaries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8F876-F50F-F7DD-06DA-09FAC0DEE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dirty="0"/>
              <a:t>Scenario #1</a:t>
            </a:r>
          </a:p>
          <a:p>
            <a:pPr lvl="1"/>
            <a:r>
              <a:rPr lang="en-US" sz="2200" dirty="0"/>
              <a:t>“A speaker is giving a presentation about a health issue. They include statistics that exaggerate the severity of the issue to persuade the audience to take action.”</a:t>
            </a:r>
          </a:p>
          <a:p>
            <a:endParaRPr lang="en-US" sz="2400" dirty="0"/>
          </a:p>
          <a:p>
            <a:r>
              <a:rPr lang="en-US" sz="2400" dirty="0"/>
              <a:t>Is it ever acceptable to exaggerate data for a good cause?</a:t>
            </a:r>
          </a:p>
          <a:p>
            <a:r>
              <a:rPr lang="en-US" sz="2400" dirty="0"/>
              <a:t>How could this harm the speaker’s credibility or the audience’s trust if discovered?</a:t>
            </a:r>
          </a:p>
          <a:p>
            <a:r>
              <a:rPr lang="en-US" sz="2400" dirty="0"/>
              <a:t>What should the speaker do to present accurate but compelling data?</a:t>
            </a:r>
          </a:p>
        </p:txBody>
      </p:sp>
    </p:spTree>
    <p:extLst>
      <p:ext uri="{BB962C8B-B14F-4D97-AF65-F5344CB8AC3E}">
        <p14:creationId xmlns:p14="http://schemas.microsoft.com/office/powerpoint/2010/main" val="152185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57EB-29E3-2596-C15F-D4B096F1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Quandaries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F359C-7D87-E438-1DE1-1E1F3871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Scenario #2</a:t>
            </a:r>
          </a:p>
          <a:p>
            <a:pPr lvl="1"/>
            <a:r>
              <a:rPr lang="en-US" sz="2200" dirty="0"/>
              <a:t>“A student is delivering a speech in class and uses several phrases and ideas from a famous TED talk without giving credit.”</a:t>
            </a:r>
          </a:p>
          <a:p>
            <a:endParaRPr lang="en-US" sz="2400" dirty="0"/>
          </a:p>
          <a:p>
            <a:r>
              <a:rPr lang="en-US" sz="2200" dirty="0"/>
              <a:t>Why is it important to attribute sources in public speaking?</a:t>
            </a:r>
          </a:p>
          <a:p>
            <a:r>
              <a:rPr lang="en-US" sz="2200" dirty="0"/>
              <a:t>How can the speaker properly incorporate others’ ideas into their speech?</a:t>
            </a:r>
          </a:p>
          <a:p>
            <a:r>
              <a:rPr lang="en-US" sz="2200" dirty="0"/>
              <a:t>What are the potential consequences of plagiarism in professional or academic settings?</a:t>
            </a:r>
          </a:p>
        </p:txBody>
      </p:sp>
    </p:spTree>
    <p:extLst>
      <p:ext uri="{BB962C8B-B14F-4D97-AF65-F5344CB8AC3E}">
        <p14:creationId xmlns:p14="http://schemas.microsoft.com/office/powerpoint/2010/main" val="197544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EC8E-DD51-0892-6814-9AF527DC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Quandaries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D871C-1C84-6480-31F2-AB6006DD5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Scenario #3</a:t>
            </a:r>
          </a:p>
          <a:p>
            <a:pPr lvl="1"/>
            <a:r>
              <a:rPr lang="en-US" sz="2200" dirty="0"/>
              <a:t>“A charity fundraiser speaker uses highly emotional, graphic images and stories that may upset the audience to encourage donations.”</a:t>
            </a:r>
          </a:p>
          <a:p>
            <a:endParaRPr lang="en-US" sz="2400" dirty="0"/>
          </a:p>
          <a:p>
            <a:r>
              <a:rPr lang="en-US" sz="2200" dirty="0"/>
              <a:t>When does appealing to emotion cross the line into manipulation?</a:t>
            </a:r>
          </a:p>
          <a:p>
            <a:r>
              <a:rPr lang="en-US" sz="2200" dirty="0"/>
              <a:t>How could the speaker balance emotional appeals with ethical communication?</a:t>
            </a:r>
          </a:p>
          <a:p>
            <a:r>
              <a:rPr lang="en-US" sz="2200" dirty="0"/>
              <a:t>How does manipulating an audience’s emotions affect trust and credibility?</a:t>
            </a:r>
          </a:p>
        </p:txBody>
      </p:sp>
    </p:spTree>
    <p:extLst>
      <p:ext uri="{BB962C8B-B14F-4D97-AF65-F5344CB8AC3E}">
        <p14:creationId xmlns:p14="http://schemas.microsoft.com/office/powerpoint/2010/main" val="192888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</TotalTime>
  <Words>560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THE BIGGER QUESTIONS OF PUBLIC SPEAKING</vt:lpstr>
      <vt:lpstr>Today’s Agenda</vt:lpstr>
      <vt:lpstr>First...</vt:lpstr>
      <vt:lpstr>Public Speaking</vt:lpstr>
      <vt:lpstr>Benefits of Public Speaking</vt:lpstr>
      <vt:lpstr>The Ethics of Communication</vt:lpstr>
      <vt:lpstr>Ethics in Communication – The Ideal Communicator</vt:lpstr>
      <vt:lpstr>Ethics and Credibility</vt:lpstr>
      <vt:lpstr>Determining Credibility</vt:lpstr>
      <vt:lpstr>Perceiving Credibility</vt:lpstr>
      <vt:lpstr>Ethical Quandaries</vt:lpstr>
      <vt:lpstr>Ethical Quandaries</vt:lpstr>
      <vt:lpstr>Ethical Quandaries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Phillips</dc:creator>
  <cp:lastModifiedBy>James Phillips</cp:lastModifiedBy>
  <cp:revision>6</cp:revision>
  <dcterms:created xsi:type="dcterms:W3CDTF">2025-01-09T18:51:18Z</dcterms:created>
  <dcterms:modified xsi:type="dcterms:W3CDTF">2026-01-07T23:20:54Z</dcterms:modified>
</cp:coreProperties>
</file>